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11827"/>
                </a:solidFill>
              </a:defRPr>
            </a:pPr>
            <a:r>
              <a:t>4가지 AI 아키텍처 패턴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통제·자동화 수준에 따라 패턴을 조합합니다. 단일 패턴만 쓰는 회사는 거의 없습니다.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19" y="1554480"/>
            <a:ext cx="5271516" cy="2103120"/>
          </a:xfrm>
          <a:prstGeom prst="rect">
            <a:avLst/>
          </a:prstGeom>
          <a:solidFill>
            <a:srgbClr val="FEF3C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rIns="228600" bIns="182880" wrap="square"/>
          <a:lstStyle/>
          <a:p>
            <a:pPr algn="l">
              <a:defRPr sz="2200" b="1">
                <a:solidFill>
                  <a:srgbClr val="111827"/>
                </a:solidFill>
              </a:defRPr>
            </a:pPr>
            <a:r>
              <a:t>API only</a:t>
            </a:r>
          </a:p>
          <a:p>
            <a:pPr>
              <a:spcBef>
                <a:spcPts val="600"/>
              </a:spcBef>
              <a:defRPr sz="1200">
                <a:solidFill>
                  <a:srgbClr val="374151"/>
                </a:solidFill>
              </a:defRPr>
            </a:pPr>
            <a:r>
              <a:t>개별 사용자가 도구를 직접 사용 (Claude, ChatGPT 웹·앱)</a:t>
            </a:r>
          </a:p>
          <a:p>
            <a:pPr>
              <a:spcBef>
                <a:spcPts val="800"/>
              </a:spcBef>
              <a:defRPr sz="1100" b="1">
                <a:solidFill>
                  <a:srgbClr val="05734A"/>
                </a:solidFill>
              </a:defRPr>
            </a:pPr>
            <a:r>
              <a:t>적합: 소규모 파일럿, 개인 생산성 도입 초기</a:t>
            </a:r>
          </a:p>
          <a:p>
            <a:pPr>
              <a:spcBef>
                <a:spcPts val="300"/>
              </a:spcBef>
              <a:defRPr sz="1100" b="1">
                <a:solidFill>
                  <a:srgbClr val="9B1C1C"/>
                </a:solidFill>
              </a:defRPr>
            </a:pPr>
            <a:r>
              <a:t>위험: 통제 약함 — 데이터 노출·도구 난립 가능</a:t>
            </a:r>
          </a:p>
        </p:txBody>
      </p:sp>
      <p:sp>
        <p:nvSpPr>
          <p:cNvPr id="5" name="Rectangle 4"/>
          <p:cNvSpPr/>
          <p:nvPr/>
        </p:nvSpPr>
        <p:spPr>
          <a:xfrm>
            <a:off x="6185916" y="1554480"/>
            <a:ext cx="5271516" cy="2103120"/>
          </a:xfrm>
          <a:prstGeom prst="rect">
            <a:avLst/>
          </a:prstGeom>
          <a:solidFill>
            <a:srgbClr val="D1FAE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rIns="228600" bIns="182880" wrap="square"/>
          <a:lstStyle/>
          <a:p>
            <a:pPr algn="l">
              <a:defRPr sz="2200" b="1">
                <a:solidFill>
                  <a:srgbClr val="111827"/>
                </a:solidFill>
              </a:defRPr>
            </a:pPr>
            <a:r>
              <a:t>플러그인</a:t>
            </a:r>
          </a:p>
          <a:p>
            <a:pPr>
              <a:spcBef>
                <a:spcPts val="600"/>
              </a:spcBef>
              <a:defRPr sz="1200">
                <a:solidFill>
                  <a:srgbClr val="374151"/>
                </a:solidFill>
              </a:defRPr>
            </a:pPr>
            <a:r>
              <a:t>Office·Workspace에 임베디드 (M365 Copilot, Workspace AI)</a:t>
            </a:r>
          </a:p>
          <a:p>
            <a:pPr>
              <a:spcBef>
                <a:spcPts val="800"/>
              </a:spcBef>
              <a:defRPr sz="1100" b="1">
                <a:solidFill>
                  <a:srgbClr val="05734A"/>
                </a:solidFill>
              </a:defRPr>
            </a:pPr>
            <a:r>
              <a:t>적합: 문서·이메일 중심 업무 50%+</a:t>
            </a:r>
          </a:p>
          <a:p>
            <a:pPr>
              <a:spcBef>
                <a:spcPts val="300"/>
              </a:spcBef>
              <a:defRPr sz="1100" b="1">
                <a:solidFill>
                  <a:srgbClr val="9B1C1C"/>
                </a:solidFill>
              </a:defRPr>
            </a:pPr>
            <a:r>
              <a:t>위험: 벤더 lock-in, 라이선스 비용 증가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19" y="3840479"/>
            <a:ext cx="5271516" cy="2103120"/>
          </a:xfrm>
          <a:prstGeom prst="rect">
            <a:avLst/>
          </a:prstGeom>
          <a:solidFill>
            <a:srgbClr val="DBEAF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rIns="228600" bIns="182880" wrap="square"/>
          <a:lstStyle/>
          <a:p>
            <a:pPr algn="l">
              <a:defRPr sz="2200" b="1">
                <a:solidFill>
                  <a:srgbClr val="111827"/>
                </a:solidFill>
              </a:defRPr>
            </a:pPr>
            <a:r>
              <a:t>코파일럿</a:t>
            </a:r>
          </a:p>
          <a:p>
            <a:pPr>
              <a:spcBef>
                <a:spcPts val="600"/>
              </a:spcBef>
              <a:defRPr sz="1200">
                <a:solidFill>
                  <a:srgbClr val="374151"/>
                </a:solidFill>
              </a:defRPr>
            </a:pPr>
            <a:r>
              <a:t>IDE·CRM·툴 내부에 직접 통합 (Cursor, Salesforce Einstein)</a:t>
            </a:r>
          </a:p>
          <a:p>
            <a:pPr>
              <a:spcBef>
                <a:spcPts val="800"/>
              </a:spcBef>
              <a:defRPr sz="1100" b="1">
                <a:solidFill>
                  <a:srgbClr val="05734A"/>
                </a:solidFill>
              </a:defRPr>
            </a:pPr>
            <a:r>
              <a:t>적합: 특정 워크플로우 강화 (개발·영업)</a:t>
            </a:r>
          </a:p>
          <a:p>
            <a:pPr>
              <a:spcBef>
                <a:spcPts val="300"/>
              </a:spcBef>
              <a:defRPr sz="1100" b="1">
                <a:solidFill>
                  <a:srgbClr val="9B1C1C"/>
                </a:solidFill>
              </a:defRPr>
            </a:pPr>
            <a:r>
              <a:t>위험: 비용 상승, 도구별 라이선스 분산</a:t>
            </a:r>
          </a:p>
        </p:txBody>
      </p:sp>
      <p:sp>
        <p:nvSpPr>
          <p:cNvPr id="7" name="Rectangle 6"/>
          <p:cNvSpPr/>
          <p:nvPr/>
        </p:nvSpPr>
        <p:spPr>
          <a:xfrm>
            <a:off x="6185916" y="3840479"/>
            <a:ext cx="5271516" cy="2103120"/>
          </a:xfrm>
          <a:prstGeom prst="rect">
            <a:avLst/>
          </a:prstGeom>
          <a:solidFill>
            <a:srgbClr val="FEE2E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rIns="228600" bIns="182880" wrap="square"/>
          <a:lstStyle/>
          <a:p>
            <a:pPr algn="l">
              <a:defRPr sz="2200" b="1">
                <a:solidFill>
                  <a:srgbClr val="111827"/>
                </a:solidFill>
              </a:defRPr>
            </a:pPr>
            <a:r>
              <a:t>에이전트</a:t>
            </a:r>
          </a:p>
          <a:p>
            <a:pPr>
              <a:spcBef>
                <a:spcPts val="600"/>
              </a:spcBef>
              <a:defRPr sz="1200">
                <a:solidFill>
                  <a:srgbClr val="374151"/>
                </a:solidFill>
              </a:defRPr>
            </a:pPr>
            <a:r>
              <a:t>자동 실행 워크플로우 (Claude Agent, AutoGen 등)</a:t>
            </a:r>
          </a:p>
          <a:p>
            <a:pPr>
              <a:spcBef>
                <a:spcPts val="800"/>
              </a:spcBef>
              <a:defRPr sz="1100" b="1">
                <a:solidFill>
                  <a:srgbClr val="05734A"/>
                </a:solidFill>
              </a:defRPr>
            </a:pPr>
            <a:r>
              <a:t>적합: 반복적·규칙 명확한 백오피스 자동화</a:t>
            </a:r>
          </a:p>
          <a:p>
            <a:pPr>
              <a:spcBef>
                <a:spcPts val="300"/>
              </a:spcBef>
              <a:defRPr sz="1100" b="1">
                <a:solidFill>
                  <a:srgbClr val="9B1C1C"/>
                </a:solidFill>
              </a:defRPr>
            </a:pPr>
            <a:r>
              <a:t>위험: 검증 어려움, HITL 부재 시 사고 확산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B7280"/>
                </a:solidFill>
              </a:defRPr>
            </a:pPr>
            <a:r>
              <a:t>실제 회사는 보통 2-3개 패턴을 동시에 운영합니다 (예: 플러그인 + 코파일럿 + 일부 에이전트).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i="1">
                <a:solidFill>
                  <a:srgbClr val="6B7280"/>
                </a:solidFill>
              </a:defRPr>
            </a:pPr>
            <a:r>
              <a:t>AX Guide for Enterprise · v0.2 / jade@linercorp.com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