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</a:defRPr>
            </a:pPr>
            <a:r>
              <a:t>영향도 × 실현가능성 우선순위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AX 과제를 4분면에 배치해 의사결정 우선순위를 결정합니다.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463040"/>
            <a:ext cx="4343400" cy="2286000"/>
          </a:xfrm>
          <a:prstGeom prst="rect">
            <a:avLst/>
          </a:prstGeom>
          <a:solidFill>
            <a:srgbClr val="FEF3C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l">
              <a:defRPr sz="2200" b="1">
                <a:solidFill>
                  <a:srgbClr val="111827"/>
                </a:solidFill>
              </a:defRPr>
            </a:pPr>
            <a:r>
              <a:t>장기 R&amp;D</a:t>
            </a:r>
          </a:p>
          <a:p>
            <a:pPr algn="l">
              <a:defRPr sz="1100">
                <a:solidFill>
                  <a:srgbClr val="111827"/>
                </a:solidFill>
              </a:defRPr>
            </a:pPr>
            <a:r>
              <a:t>High Impact · Low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463040"/>
            <a:ext cx="4343400" cy="2286000"/>
          </a:xfrm>
          <a:prstGeom prst="rect">
            <a:avLst/>
          </a:prstGeom>
          <a:solidFill>
            <a:srgbClr val="D1FA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l">
              <a:defRPr sz="2200" b="1">
                <a:solidFill>
                  <a:srgbClr val="111827"/>
                </a:solidFill>
              </a:defRPr>
            </a:pPr>
            <a:r>
              <a:t>즉시 파일럿</a:t>
            </a:r>
          </a:p>
          <a:p>
            <a:pPr algn="l">
              <a:defRPr sz="1100">
                <a:solidFill>
                  <a:srgbClr val="111827"/>
                </a:solidFill>
              </a:defRPr>
            </a:pPr>
            <a:r>
              <a:t>High Impact · High Feasibility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749039"/>
            <a:ext cx="4343400" cy="2286000"/>
          </a:xfrm>
          <a:prstGeom prst="rect">
            <a:avLst/>
          </a:prstGeom>
          <a:solidFill>
            <a:srgbClr val="9CA3A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안 함</a:t>
            </a:r>
          </a:p>
          <a:p>
            <a:pPr algn="l">
              <a:defRPr sz="1100">
                <a:solidFill>
                  <a:srgbClr val="FFFFFF"/>
                </a:solidFill>
              </a:defRPr>
            </a:pPr>
            <a:r>
              <a:t>Low Impact · Low Feasibility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3749039"/>
            <a:ext cx="4343400" cy="2286000"/>
          </a:xfrm>
          <a:prstGeom prst="rect">
            <a:avLst/>
          </a:prstGeom>
          <a:solidFill>
            <a:srgbClr val="E5E7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l">
              <a:defRPr sz="2200" b="1">
                <a:solidFill>
                  <a:srgbClr val="111827"/>
                </a:solidFill>
              </a:defRPr>
            </a:pPr>
            <a:r>
              <a:t>소규모 도구 도입</a:t>
            </a:r>
          </a:p>
          <a:p>
            <a:pPr algn="l">
              <a:defRPr sz="1100">
                <a:solidFill>
                  <a:srgbClr val="111827"/>
                </a:solidFill>
              </a:defRPr>
            </a:pPr>
            <a:r>
              <a:t>Low Impact · High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1371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374151"/>
                </a:solidFill>
              </a:defRPr>
            </a:pPr>
            <a:r>
              <a:t>↑ 영향도 (Impact)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760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</a:defRPr>
            </a:pPr>
            <a: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1722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74151"/>
                </a:solidFill>
              </a:defRPr>
            </a:pPr>
            <a:r>
              <a:t>실현가능성 (Feasibility)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65379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65379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i="1">
                <a:solidFill>
                  <a:srgbClr val="6B7280"/>
                </a:solidFill>
              </a:defRPr>
            </a:pPr>
            <a:r>
              <a:t>AX Guide for Enterprise · v0.2 / jade@linercorp.com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